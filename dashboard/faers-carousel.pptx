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6035040" cy="502920"/>
          </a:xfrm>
          <a:prstGeom prst="roundRect">
            <a:avLst>
              <a:gd name="adj" fmla="val 49091"/>
            </a:avLst>
          </a:prstGeom>
          <a:solidFill>
            <a:srgbClr val="22D3EE">
              <a:alpha val="12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End-to-End Machine Learning &amp; Pharmacovigilance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E8E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Signal Detection Pipeline on </a:t>
            </a:r>
            <a:pPr indent="0" marL="0">
              <a:buNone/>
            </a:pPr>
            <a:r>
              <a:rPr lang="en-US" sz="4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FAERS</a:t>
            </a:r>
            <a:pPr indent="0" marL="0">
              <a:buNone/>
            </a:pPr>
            <a:r>
              <a:rPr lang="en-US" sz="4800" b="1" dirty="0">
                <a:solidFill>
                  <a:srgbClr val="E8E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Dataset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72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94A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100,000+ Adverse Event Reports with Statistical Filtering (ROR) and XGBoost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2286000" cy="685800"/>
          </a:xfrm>
          <a:prstGeom prst="roundRect">
            <a:avLst>
              <a:gd name="adj" fmla="val 1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2F4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6656832"/>
            <a:ext cx="173736" cy="17373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64008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100k+ Reports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017520" y="6400800"/>
            <a:ext cx="2560320" cy="685800"/>
          </a:xfrm>
          <a:prstGeom prst="roundRect">
            <a:avLst>
              <a:gd name="adj" fmla="val 1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2F4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6656832"/>
            <a:ext cx="173736" cy="17373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64008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 &gt; 0.90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760720" y="6400800"/>
            <a:ext cx="2651760" cy="685800"/>
          </a:xfrm>
          <a:prstGeom prst="roundRect">
            <a:avLst>
              <a:gd name="adj" fmla="val 16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2F4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89320" y="6656832"/>
            <a:ext cx="173736" cy="17373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63640" y="64008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&amp; XGBoost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7680960"/>
            <a:ext cx="8046720" cy="0"/>
          </a:xfrm>
          <a:prstGeom prst="line">
            <a:avLst/>
          </a:prstGeom>
          <a:noFill/>
          <a:ln w="12700">
            <a:solidFill>
              <a:srgbClr val="2F409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7863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Swipe to see system architecture &amp; benchmark results  ➔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FAERS · SIGNAL DETECTION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766560" y="457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8E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Methodology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8046720" cy="1783080"/>
          </a:xfrm>
          <a:prstGeom prst="roundRect">
            <a:avLst>
              <a:gd name="adj" fmla="val 6154"/>
            </a:avLst>
          </a:prstGeom>
          <a:solidFill>
            <a:srgbClr val="101A3A">
              <a:alpha val="90000"/>
            </a:srgbClr>
          </a:solidFill>
          <a:ln w="12700">
            <a:solidFill>
              <a:srgbClr val="2F40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5146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51460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Ingestion &amp; Cleaning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645920" y="310896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2F40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19072" y="3108960"/>
            <a:ext cx="1728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DEMO, DRUG, REAC files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310896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904488" y="310896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2F409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77640" y="3108960"/>
            <a:ext cx="1728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Case-version deduplication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779008" y="310896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63056" y="310896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2F409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36208" y="3108960"/>
            <a:ext cx="1728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age imputation &amp; sex encoding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4114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8046720" cy="1783080"/>
          </a:xfrm>
          <a:prstGeom prst="roundRect">
            <a:avLst>
              <a:gd name="adj" fmla="val 6154"/>
            </a:avLst>
          </a:prstGeom>
          <a:solidFill>
            <a:srgbClr val="101A3A">
              <a:alpha val="90000"/>
            </a:srgbClr>
          </a:solidFill>
          <a:ln w="12700">
            <a:solidFill>
              <a:srgbClr val="2F409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6177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46177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Disproportionality Analysis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645920" y="521208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2F409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719072" y="5212080"/>
            <a:ext cx="1728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Reporting Odds Ratio (ROR)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520440" y="521208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904488" y="521208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2F409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977640" y="5212080"/>
            <a:ext cx="1728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Filtered random noise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779008" y="521208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63056" y="521208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2F409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36208" y="5212080"/>
            <a:ext cx="1728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statistical signal threshold labels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297680" y="62179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6537960"/>
            <a:ext cx="8046720" cy="1783080"/>
          </a:xfrm>
          <a:prstGeom prst="roundRect">
            <a:avLst>
              <a:gd name="adj" fmla="val 6154"/>
            </a:avLst>
          </a:prstGeom>
          <a:solidFill>
            <a:srgbClr val="101A3A">
              <a:alpha val="90000"/>
            </a:srgbClr>
          </a:solidFill>
          <a:ln w="12700">
            <a:solidFill>
              <a:srgbClr val="2F409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67208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800" dirty="0"/>
          </a:p>
        </p:txBody>
      </p:sp>
      <p:sp>
        <p:nvSpPr>
          <p:cNvPr id="31" name="Text 29"/>
          <p:cNvSpPr txBox="1"/>
          <p:nvPr/>
        </p:nvSpPr>
        <p:spPr>
          <a:xfrm>
            <a:off x="1645920" y="672084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Classification Pipeline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1645920" y="731520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2F409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719072" y="7315200"/>
            <a:ext cx="1728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numerical features (StandardScaler)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3520440" y="731520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904488" y="731520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2F409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977640" y="7315200"/>
            <a:ext cx="1728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scale_pos_weight for class imbalance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5779008" y="731520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63056" y="731520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2F409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236208" y="7315200"/>
            <a:ext cx="1728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Benchmarked classifiers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FAERS · SIGNAL DETECTION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766560" y="457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03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8E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Key Outcomes</a:t>
            </a:r>
            <a:endParaRPr lang="en-US" sz="4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97280"/>
                <a:gridCol w="1097280"/>
                <a:gridCol w="1097280"/>
                <a:gridCol w="109728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94A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4A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4A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4A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4A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F1-Score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4A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ROC-AUC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6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8ED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Logistic Regression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8ED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0.XX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8ED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0.XX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8ED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0.XX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8ED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0.XX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8ED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0.XX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8ED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8ED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0.XX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8ED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0.XX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8ED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0.XX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8ED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0.XX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8ED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0.XX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 XGBoost Classifier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0.XX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0.XX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0.XX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0.XX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D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0.90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4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7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120640"/>
            <a:ext cx="8046720" cy="1828800"/>
          </a:xfrm>
          <a:prstGeom prst="roundRect">
            <a:avLst>
              <a:gd name="adj" fmla="val 6000"/>
            </a:avLst>
          </a:prstGeom>
          <a:solidFill>
            <a:srgbClr val="22D3EE">
              <a:alpha val="8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530352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XGBOOST WON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760720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E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 severe class imbalance </a:t>
            </a:r>
            <a:pPr indent="0" marL="0">
              <a:buNone/>
            </a:pPr>
            <a:r>
              <a:rPr lang="en-US" sz="1700" dirty="0">
                <a:solidFill>
                  <a:srgbClr val="E8E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scale_pos_weight, and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E8E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captured non-linear interaction features </a:t>
            </a:r>
            <a:pPr indent="0" marL="0">
              <a:buNone/>
            </a:pPr>
            <a:r>
              <a:rPr lang="en-US" sz="1700" dirty="0">
                <a:solidFill>
                  <a:srgbClr val="E8E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linear and bagged models missed.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7406640"/>
            <a:ext cx="8046720" cy="868680"/>
          </a:xfrm>
          <a:prstGeom prst="roundRect">
            <a:avLst>
              <a:gd name="adj" fmla="val 12632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74066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out the post caption for GitHub repository link!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FAERS Safety Signal Detection Pipeline</dc:title>
  <dc:subject>PptxGenJS Presentation</dc:subject>
  <dc:creator>PptxGenJS</dc:creator>
  <cp:lastModifiedBy>PptxGenJS</cp:lastModifiedBy>
  <cp:revision>1</cp:revision>
  <dcterms:created xsi:type="dcterms:W3CDTF">2026-10-01T05:50:46Z</dcterms:created>
  <dcterms:modified xsi:type="dcterms:W3CDTF">2026-10-01T05:50:46Z</dcterms:modified>
</cp:coreProperties>
</file>